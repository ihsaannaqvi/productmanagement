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7" r:id="rId3"/>
    <p:sldId id="257" r:id="rId4"/>
    <p:sldId id="268" r:id="rId5"/>
    <p:sldId id="258" r:id="rId6"/>
    <p:sldId id="269" r:id="rId7"/>
    <p:sldId id="259" r:id="rId8"/>
    <p:sldId id="270" r:id="rId9"/>
    <p:sldId id="260" r:id="rId10"/>
    <p:sldId id="271" r:id="rId11"/>
    <p:sldId id="261" r:id="rId12"/>
    <p:sldId id="272" r:id="rId13"/>
    <p:sldId id="262" r:id="rId14"/>
    <p:sldId id="273" r:id="rId15"/>
    <p:sldId id="263" r:id="rId16"/>
    <p:sldId id="274" r:id="rId17"/>
    <p:sldId id="264" r:id="rId18"/>
    <p:sldId id="275" r:id="rId19"/>
    <p:sldId id="265" r:id="rId20"/>
    <p:sldId id="276" r:id="rId21"/>
    <p:sldId id="266" r:id="rId22"/>
    <p:sldId id="277" r:id="rId23"/>
  </p:sldIdLst>
  <p:sldSz cx="14630400" cy="8229600"/>
  <p:notesSz cx="8229600" cy="14630400"/>
  <p:embeddedFontLst>
    <p:embeddedFont>
      <p:font typeface="Barlow" panose="020B0604020202020204" charset="0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Barlow Bold" panose="020B0604020202020204" charset="0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260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5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57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71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15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279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82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865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87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09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772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402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99858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Building Web Applications with ASP.NET Core MVC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740468"/>
            <a:ext cx="57283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Session 3: Introduction to ASP.NET Core MVC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454616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05-April-2025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5817513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3C383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68716" y="5799058"/>
            <a:ext cx="3798689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by Syed Ihsaan Abbas Naqvi</a:t>
            </a:r>
            <a:endParaRPr lang="en-US" sz="2400" dirty="0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E8AA440E-B809-78BD-FE67-CBA6FB9A2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637" y="5799058"/>
            <a:ext cx="516004" cy="5160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99858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400"/>
              </a:lnSpc>
            </a:pPr>
            <a:r>
              <a:rPr lang="ru-RU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Создание веб-приложений с ASP.NET </a:t>
            </a:r>
            <a:r>
              <a:rPr lang="ru-RU" sz="4300" b="1" dirty="0" err="1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</a:t>
            </a:r>
            <a:r>
              <a:rPr lang="ru-RU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MVC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740468"/>
            <a:ext cx="57283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Лекция </a:t>
            </a:r>
            <a:r>
              <a:rPr lang="ru-RU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3: Введение в ASP.NET </a:t>
            </a:r>
            <a:r>
              <a:rPr lang="ru-RU" sz="2150" b="1" dirty="0" err="1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</a:t>
            </a:r>
            <a:r>
              <a:rPr lang="ru-RU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MVC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4546163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05-April-2025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5817513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3C383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68716" y="5799058"/>
            <a:ext cx="3798689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by Syed Ihsaan Abbas Naqvi</a:t>
            </a:r>
            <a:endParaRPr lang="en-US" sz="2400" dirty="0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E8AA440E-B809-78BD-FE67-CBA6FB9A2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637" y="5799058"/>
            <a:ext cx="516004" cy="51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04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69151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Session Overview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025253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3546" y="2097167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7152680" y="202525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 Architecture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152680" y="2516267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Framework for building web apps using Model-View-Controller pattern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3830836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3546" y="390275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7152680" y="383083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Components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152680" y="4321850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Models, Views, Controllers explained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5241369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3546" y="5313283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152680" y="524136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Routing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152680" y="573238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requests map to controllers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350437" y="6651903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3546" y="6723817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152680" y="66519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Implementation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152680" y="714291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Creating a product listing app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69151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ru-RU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План Лекции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025253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3546" y="2097167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7152680" y="202525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 </a:t>
            </a: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Архитектура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152680" y="2516267"/>
            <a:ext cx="661368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Фреймворк для создания веб-приложений с использованием паттерна </a:t>
            </a:r>
            <a:r>
              <a:rPr lang="ru-RU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Model-View-Controller</a:t>
            </a: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(MVC)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3830836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3546" y="3902750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7152680" y="383083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Компоненты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152680" y="4321850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Модели, представления, контроллеры — объяснение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5241369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3546" y="5313283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7152680" y="524136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Маршрутизация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152680" y="573238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Как запросы сопоставляются с контроллерами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6350437" y="6651903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09123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3546" y="6723817"/>
            <a:ext cx="329089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152680" y="665190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Реализация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152680" y="714291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Создание </a:t>
            </a: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приложения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024281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93746"/>
            <a:ext cx="820638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ASP.NET Core MVC Architecture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140" y="2573298"/>
            <a:ext cx="2128838" cy="137969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966" y="3215997"/>
            <a:ext cx="347186" cy="4339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00794" y="2820114"/>
            <a:ext cx="30340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Separation of Concerns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5400794" y="3311128"/>
            <a:ext cx="30340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More maintainable code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5215652" y="3968591"/>
            <a:ext cx="8489037" cy="15240"/>
          </a:xfrm>
          <a:prstGeom prst="roundRect">
            <a:avLst>
              <a:gd name="adj" fmla="val 2430000"/>
            </a:avLst>
          </a:prstGeom>
          <a:solidFill>
            <a:srgbClr val="16FFBB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721" y="4014668"/>
            <a:ext cx="4257675" cy="137969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966" y="4487466"/>
            <a:ext cx="347186" cy="43398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5213" y="4261485"/>
            <a:ext cx="28124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Dependency Injection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6465213" y="4752499"/>
            <a:ext cx="28124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Built-in support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6280071" y="5409962"/>
            <a:ext cx="7424618" cy="15240"/>
          </a:xfrm>
          <a:prstGeom prst="roundRect">
            <a:avLst>
              <a:gd name="adj" fmla="val 2430000"/>
            </a:avLst>
          </a:prstGeom>
          <a:solidFill>
            <a:srgbClr val="29DDDA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83" y="5456039"/>
            <a:ext cx="6386632" cy="137969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847" y="5928836"/>
            <a:ext cx="347186" cy="43398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9632" y="5702856"/>
            <a:ext cx="26455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Middleware Pipeline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7529632" y="6193869"/>
            <a:ext cx="264556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Request processing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93746"/>
            <a:ext cx="820638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ru-RU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Архитектура </a:t>
            </a:r>
            <a:r>
              <a:rPr lang="en-US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ASP.NET </a:t>
            </a: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</a:t>
            </a:r>
            <a:r>
              <a:rPr lang="en-US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140" y="2573298"/>
            <a:ext cx="2128838" cy="137969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966" y="3215997"/>
            <a:ext cx="347186" cy="4339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00794" y="2820114"/>
            <a:ext cx="303407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Разделение ответственности</a:t>
            </a:r>
          </a:p>
        </p:txBody>
      </p:sp>
      <p:sp>
        <p:nvSpPr>
          <p:cNvPr id="6" name="Text 2"/>
          <p:cNvSpPr/>
          <p:nvPr/>
        </p:nvSpPr>
        <p:spPr>
          <a:xfrm>
            <a:off x="5400794" y="3311128"/>
            <a:ext cx="303407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Более поддерживаемый код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5215652" y="3968591"/>
            <a:ext cx="8489037" cy="15240"/>
          </a:xfrm>
          <a:prstGeom prst="roundRect">
            <a:avLst>
              <a:gd name="adj" fmla="val 2430000"/>
            </a:avLst>
          </a:prstGeom>
          <a:solidFill>
            <a:srgbClr val="16FFBB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721" y="4014668"/>
            <a:ext cx="4257675" cy="1379696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5966" y="4487466"/>
            <a:ext cx="347186" cy="43398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65213" y="4261485"/>
            <a:ext cx="28124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Внедрение зависимостей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6465213" y="4752499"/>
            <a:ext cx="28124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Встроенная поддержка</a:t>
            </a:r>
            <a:endParaRPr lang="en-US" sz="1900" dirty="0"/>
          </a:p>
        </p:txBody>
      </p:sp>
      <p:sp>
        <p:nvSpPr>
          <p:cNvPr id="12" name="Shape 6"/>
          <p:cNvSpPr/>
          <p:nvPr/>
        </p:nvSpPr>
        <p:spPr>
          <a:xfrm>
            <a:off x="6280071" y="5409962"/>
            <a:ext cx="7424618" cy="15240"/>
          </a:xfrm>
          <a:prstGeom prst="roundRect">
            <a:avLst>
              <a:gd name="adj" fmla="val 2430000"/>
            </a:avLst>
          </a:prstGeom>
          <a:solidFill>
            <a:srgbClr val="29DDDA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83" y="5456039"/>
            <a:ext cx="6386632" cy="137969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847" y="5928836"/>
            <a:ext cx="347186" cy="43398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9632" y="5702856"/>
            <a:ext cx="26455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Промежуточное ПО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7529632" y="6193869"/>
            <a:ext cx="264556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Обработка запросов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591079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46377"/>
            <a:ext cx="861202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Understanding MVC Components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Application data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82036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logic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Validation rules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372695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View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372695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UI presentation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2695" y="482036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Razor syntax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372695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Displays data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81354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Controller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9881354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Handles input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881354" y="482036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Application logic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81354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Returns views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446377"/>
            <a:ext cx="8612029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ru-RU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Понимание компонентов </a:t>
            </a: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Модель (</a:t>
            </a: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Model)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Данные приложения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06837" y="4820363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800100" lvl="1" indent="-342900">
              <a:lnSpc>
                <a:spcPts val="3100"/>
              </a:lnSpc>
              <a:buSzPct val="100000"/>
              <a:buChar char="•"/>
            </a:pPr>
            <a:r>
              <a:rPr lang="ru-RU" sz="1900" dirty="0" smtClean="0">
                <a:solidFill>
                  <a:srgbClr val="E0E4E6"/>
                </a:solidFill>
              </a:rPr>
              <a:t>Бизнес-логика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ru-RU" sz="1900" dirty="0">
                <a:solidFill>
                  <a:srgbClr val="E0E4E6"/>
                </a:solidFill>
              </a:rPr>
              <a:t>Правила </a:t>
            </a:r>
            <a:r>
              <a:rPr lang="ru-RU" sz="1900" dirty="0" err="1">
                <a:solidFill>
                  <a:srgbClr val="E0E4E6"/>
                </a:solidFill>
              </a:rPr>
              <a:t>валидации</a:t>
            </a:r>
            <a:endParaRPr lang="en-US" sz="1900" dirty="0">
              <a:solidFill>
                <a:srgbClr val="E0E4E6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372695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Представление (</a:t>
            </a:r>
            <a:r>
              <a:rPr lang="en-US" sz="215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View</a:t>
            </a:r>
            <a:r>
              <a:rPr lang="ru-RU" sz="215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)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5372695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Отображение </a:t>
            </a:r>
            <a:r>
              <a:rPr lang="en-US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2695" y="482036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Синтаксис </a:t>
            </a:r>
            <a:r>
              <a:rPr lang="en-US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Razor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372695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Вывод данных 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81354" y="37492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Контроллер (</a:t>
            </a:r>
            <a:r>
              <a:rPr lang="en-US" sz="215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Controller</a:t>
            </a:r>
            <a:r>
              <a:rPr lang="ru-RU" sz="215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)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9881354" y="4338995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Обработка </a:t>
            </a: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ввода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881354" y="482036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Логика приложения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881354" y="5301734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ru-RU" sz="1900" dirty="0" smtClean="0">
                <a:solidFill>
                  <a:srgbClr val="E0E4E6"/>
                </a:solidFill>
              </a:rPr>
              <a:t>Возвращение представления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086153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64813"/>
            <a:ext cx="617339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Routing in ASP.NET Core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2420898"/>
            <a:ext cx="1234440" cy="1481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55161" y="26677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URL Request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955161" y="3158728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/Product/Details/5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3902154"/>
            <a:ext cx="1234440" cy="1481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55161" y="414897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Route Pattern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955161" y="4639985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{controller}/{action}/{id?}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437" y="5383411"/>
            <a:ext cx="1234440" cy="1481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55161" y="56302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Controller Action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955161" y="6121241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ProductController.Details(5)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364813"/>
            <a:ext cx="617339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ru-RU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Маршрутизация в </a:t>
            </a: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ASP.NET Core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37" y="2420898"/>
            <a:ext cx="1234440" cy="14812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55161" y="26677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Запрос </a:t>
            </a:r>
            <a:r>
              <a:rPr lang="en-US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URL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955161" y="3158728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/Product/Details/5</a:t>
            </a:r>
            <a:endParaRPr lang="en-US" sz="1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437" y="3902154"/>
            <a:ext cx="1234440" cy="14812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55161" y="414897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Шаблон маршрута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955161" y="4639985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{controller}/{action}/{id?}</a:t>
            </a:r>
            <a:endParaRPr lang="en-US" sz="1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437" y="5383411"/>
            <a:ext cx="1234440" cy="1481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55161" y="56302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Действие контроллера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955161" y="6121241"/>
            <a:ext cx="5811203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ProductController.Details(5)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900427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4147" y="634127"/>
            <a:ext cx="5042773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Creating a Model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94147" y="1604605"/>
            <a:ext cx="3664506" cy="1676638"/>
          </a:xfrm>
          <a:prstGeom prst="roundRect">
            <a:avLst>
              <a:gd name="adj" fmla="val 20302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821" y="1854279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Define Class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43821" y="2305526"/>
            <a:ext cx="3165158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Product class in Models folder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1604605"/>
            <a:ext cx="3664506" cy="1676638"/>
          </a:xfrm>
          <a:prstGeom prst="roundRect">
            <a:avLst>
              <a:gd name="adj" fmla="val 20302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5141" y="1854279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Properties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935141" y="2305526"/>
            <a:ext cx="3165158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Id, Name, Price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4147" y="3508058"/>
            <a:ext cx="7555706" cy="1313617"/>
          </a:xfrm>
          <a:prstGeom prst="roundRect">
            <a:avLst>
              <a:gd name="adj" fmla="val 2591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3821" y="3757732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Validation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43821" y="4208978"/>
            <a:ext cx="7056358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 data annotations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4147" y="5076944"/>
            <a:ext cx="7555706" cy="2518410"/>
          </a:xfrm>
          <a:prstGeom prst="roundRect">
            <a:avLst>
              <a:gd name="adj" fmla="val 13516"/>
            </a:avLst>
          </a:prstGeom>
          <a:solidFill>
            <a:srgbClr val="004D36"/>
          </a:solidFill>
          <a:ln/>
        </p:spPr>
      </p:sp>
      <p:sp>
        <p:nvSpPr>
          <p:cNvPr id="14" name="Shape 11"/>
          <p:cNvSpPr/>
          <p:nvPr/>
        </p:nvSpPr>
        <p:spPr>
          <a:xfrm>
            <a:off x="782836" y="5076944"/>
            <a:ext cx="7578328" cy="2518410"/>
          </a:xfrm>
          <a:prstGeom prst="roundRect">
            <a:avLst>
              <a:gd name="adj" fmla="val 1352"/>
            </a:avLst>
          </a:prstGeom>
          <a:solidFill>
            <a:srgbClr val="004D3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9650" y="5247084"/>
            <a:ext cx="7124700" cy="217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 {
  public int Id { get; set; }
  public string Name { get; set; }
  public decimal Price { get; set; }
}
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4147" y="634127"/>
            <a:ext cx="5042773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950"/>
              </a:lnSpc>
            </a:pPr>
            <a:r>
              <a:rPr lang="ru-RU" sz="3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Создание модели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94147" y="1604605"/>
            <a:ext cx="3664506" cy="1676638"/>
          </a:xfrm>
          <a:prstGeom prst="roundRect">
            <a:avLst>
              <a:gd name="adj" fmla="val 20302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3821" y="1854279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ru-RU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Определение класса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43821" y="2305526"/>
            <a:ext cx="3165158" cy="726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ru-RU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</a:t>
            </a:r>
            <a:r>
              <a:rPr lang="ru-RU" sz="175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оздайте </a:t>
            </a:r>
            <a:r>
              <a:rPr lang="ru-RU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класс Product в папке </a:t>
            </a:r>
            <a:r>
              <a:rPr lang="ru-RU" sz="1750" dirty="0" err="1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1604605"/>
            <a:ext cx="3664506" cy="1676638"/>
          </a:xfrm>
          <a:prstGeom prst="roundRect">
            <a:avLst>
              <a:gd name="adj" fmla="val 20302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5141" y="1854279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9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Свойства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935141" y="2305526"/>
            <a:ext cx="3165158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Id, Name, Price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4147" y="3508058"/>
            <a:ext cx="7555706" cy="1313617"/>
          </a:xfrm>
          <a:prstGeom prst="roundRect">
            <a:avLst>
              <a:gd name="adj" fmla="val 25912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3821" y="3757732"/>
            <a:ext cx="2521387" cy="31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ru-RU" sz="1950" b="1" dirty="0" err="1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Валидация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43821" y="4208978"/>
            <a:ext cx="7056358" cy="363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ru-RU" sz="1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Добавление аннотаций данных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4147" y="5076944"/>
            <a:ext cx="7555706" cy="2518410"/>
          </a:xfrm>
          <a:prstGeom prst="roundRect">
            <a:avLst>
              <a:gd name="adj" fmla="val 13516"/>
            </a:avLst>
          </a:prstGeom>
          <a:solidFill>
            <a:srgbClr val="004D36"/>
          </a:solidFill>
          <a:ln/>
        </p:spPr>
      </p:sp>
      <p:sp>
        <p:nvSpPr>
          <p:cNvPr id="14" name="Shape 11"/>
          <p:cNvSpPr/>
          <p:nvPr/>
        </p:nvSpPr>
        <p:spPr>
          <a:xfrm>
            <a:off x="782836" y="5076944"/>
            <a:ext cx="7578328" cy="2518410"/>
          </a:xfrm>
          <a:prstGeom prst="roundRect">
            <a:avLst>
              <a:gd name="adj" fmla="val 1352"/>
            </a:avLst>
          </a:prstGeom>
          <a:solidFill>
            <a:srgbClr val="004D36"/>
          </a:solidFill>
          <a:ln/>
        </p:spPr>
      </p:sp>
      <p:sp>
        <p:nvSpPr>
          <p:cNvPr id="15" name="Text 12"/>
          <p:cNvSpPr/>
          <p:nvPr/>
        </p:nvSpPr>
        <p:spPr>
          <a:xfrm>
            <a:off x="1009650" y="5247084"/>
            <a:ext cx="7124700" cy="2178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Product {
  public int Id { get; set; }
  public string Name { get; set; }
  public decimal Price { get; set; }
}
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516379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32071"/>
            <a:ext cx="745664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Creating Controller and View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511623"/>
            <a:ext cx="2150269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578" y="2984421"/>
            <a:ext cx="347186" cy="433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61122" y="27584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Add Controller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3261122" y="3249454"/>
            <a:ext cx="407027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ProductController in Controllers folder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3137654" y="3876080"/>
            <a:ext cx="10505361" cy="15240"/>
          </a:xfrm>
          <a:prstGeom prst="roundRect">
            <a:avLst>
              <a:gd name="adj" fmla="val 2430000"/>
            </a:avLst>
          </a:prstGeom>
          <a:solidFill>
            <a:srgbClr val="16FFBB"/>
          </a:solidFill>
          <a:ln/>
        </p:spPr>
      </p:sp>
      <p:sp>
        <p:nvSpPr>
          <p:cNvPr id="8" name="Shape 5"/>
          <p:cNvSpPr/>
          <p:nvPr/>
        </p:nvSpPr>
        <p:spPr>
          <a:xfrm>
            <a:off x="864037" y="4014668"/>
            <a:ext cx="4300657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712" y="4487466"/>
            <a:ext cx="347186" cy="4339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1510" y="42614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Define Action</a:t>
            </a:r>
            <a:endParaRPr lang="en-US" sz="2150" dirty="0"/>
          </a:p>
        </p:txBody>
      </p:sp>
      <p:sp>
        <p:nvSpPr>
          <p:cNvPr id="11" name="Text 7"/>
          <p:cNvSpPr/>
          <p:nvPr/>
        </p:nvSpPr>
        <p:spPr>
          <a:xfrm>
            <a:off x="5411510" y="4752499"/>
            <a:ext cx="355080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Index method returns product list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288042" y="5379125"/>
            <a:ext cx="8354973" cy="15240"/>
          </a:xfrm>
          <a:prstGeom prst="roundRect">
            <a:avLst>
              <a:gd name="adj" fmla="val 2430000"/>
            </a:avLst>
          </a:prstGeom>
          <a:solidFill>
            <a:srgbClr val="29DDDA"/>
          </a:solidFill>
          <a:ln/>
        </p:spPr>
      </p:sp>
      <p:sp>
        <p:nvSpPr>
          <p:cNvPr id="13" name="Shape 9"/>
          <p:cNvSpPr/>
          <p:nvPr/>
        </p:nvSpPr>
        <p:spPr>
          <a:xfrm>
            <a:off x="864037" y="5517713"/>
            <a:ext cx="6451163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966" y="5990511"/>
            <a:ext cx="347186" cy="4339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62017" y="576453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Create View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7562017" y="6255544"/>
            <a:ext cx="329112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Index.cshtml displays products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32071"/>
            <a:ext cx="745664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ru-RU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Создание контроллера и представления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511623"/>
            <a:ext cx="2150269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578" y="2984421"/>
            <a:ext cx="347186" cy="4339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61122" y="27584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Добавление контроллера</a:t>
            </a:r>
            <a:endParaRPr lang="en-US" sz="2150" dirty="0"/>
          </a:p>
        </p:txBody>
      </p:sp>
      <p:sp>
        <p:nvSpPr>
          <p:cNvPr id="7" name="Shape 4"/>
          <p:cNvSpPr/>
          <p:nvPr/>
        </p:nvSpPr>
        <p:spPr>
          <a:xfrm>
            <a:off x="3137654" y="3876080"/>
            <a:ext cx="10505361" cy="15240"/>
          </a:xfrm>
          <a:prstGeom prst="roundRect">
            <a:avLst>
              <a:gd name="adj" fmla="val 2430000"/>
            </a:avLst>
          </a:prstGeom>
          <a:solidFill>
            <a:srgbClr val="16FFBB"/>
          </a:solidFill>
          <a:ln/>
        </p:spPr>
      </p:sp>
      <p:sp>
        <p:nvSpPr>
          <p:cNvPr id="8" name="Shape 5"/>
          <p:cNvSpPr/>
          <p:nvPr/>
        </p:nvSpPr>
        <p:spPr>
          <a:xfrm>
            <a:off x="864037" y="4014668"/>
            <a:ext cx="4300657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712" y="4487466"/>
            <a:ext cx="347186" cy="4339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1510" y="426148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Определение действия</a:t>
            </a:r>
            <a:endParaRPr lang="en-US" sz="2150" dirty="0"/>
          </a:p>
        </p:txBody>
      </p:sp>
      <p:sp>
        <p:nvSpPr>
          <p:cNvPr id="12" name="Shape 8"/>
          <p:cNvSpPr/>
          <p:nvPr/>
        </p:nvSpPr>
        <p:spPr>
          <a:xfrm>
            <a:off x="5288042" y="5379125"/>
            <a:ext cx="8354973" cy="15240"/>
          </a:xfrm>
          <a:prstGeom prst="roundRect">
            <a:avLst>
              <a:gd name="adj" fmla="val 2430000"/>
            </a:avLst>
          </a:prstGeom>
          <a:solidFill>
            <a:srgbClr val="29DDDA"/>
          </a:solidFill>
          <a:ln/>
        </p:spPr>
      </p:sp>
      <p:sp>
        <p:nvSpPr>
          <p:cNvPr id="13" name="Shape 9"/>
          <p:cNvSpPr/>
          <p:nvPr/>
        </p:nvSpPr>
        <p:spPr>
          <a:xfrm>
            <a:off x="864037" y="5517713"/>
            <a:ext cx="6451163" cy="1379696"/>
          </a:xfrm>
          <a:prstGeom prst="roundRect">
            <a:avLst>
              <a:gd name="adj" fmla="val 26842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966" y="5990511"/>
            <a:ext cx="347186" cy="4339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62017" y="576453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Create View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7562017" y="6255544"/>
            <a:ext cx="329112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Index.cshtml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отображает продукты</a:t>
            </a:r>
            <a:endParaRPr lang="en-US" sz="1900" dirty="0"/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3261122" y="3226044"/>
            <a:ext cx="5346079" cy="38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Создайте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altLang="ru-RU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ProductController</a:t>
            </a:r>
            <a:r>
              <a:rPr lang="ru-RU" alt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в папке </a:t>
            </a:r>
            <a:r>
              <a:rPr lang="ru-RU" altLang="ru-RU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Controllers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5600700" y="4729089"/>
            <a:ext cx="4987584" cy="38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</a:t>
            </a:r>
            <a:r>
              <a:rPr lang="ru-RU" alt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етод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altLang="ru-RU" sz="19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Index</a:t>
            </a:r>
            <a:r>
              <a:rPr lang="ru-RU" alt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возвращает список </a:t>
            </a:r>
            <a:r>
              <a:rPr lang="ru-RU" alt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продуктов </a:t>
            </a:r>
            <a:endParaRPr lang="ru-RU" altLang="ru-RU" sz="1900" dirty="0">
              <a:solidFill>
                <a:srgbClr val="E0E4E6"/>
              </a:solidFill>
              <a:latin typeface="Barlow" pitchFamily="34" charset="0"/>
              <a:ea typeface="Barlow" pitchFamily="34" charset="-122"/>
              <a:cs typeface="Barlow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1927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77447"/>
            <a:ext cx="780335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Entity Framework Approaches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656999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547104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Database-First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962055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Generate C# models from an existing database schema.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2656999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547104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Code-First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962055"/>
            <a:ext cx="405395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Create the database based on C# classes (models).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2656999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5471041"/>
            <a:ext cx="326302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Model-First (Deprecated)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962055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Use a visual designer to create the database schema and C# models.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77447"/>
            <a:ext cx="780335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400"/>
              </a:lnSpc>
            </a:pPr>
            <a:r>
              <a:rPr lang="ru-RU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Подходы </a:t>
            </a:r>
            <a:r>
              <a:rPr lang="en-US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Entity </a:t>
            </a: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Framework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656999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547104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Database-First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962055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Генерация моделей C# на основе существующей схемы базы данных.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2656999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547104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Code-First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962055"/>
            <a:ext cx="405395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Создание базы данных на основе классов C# (моделей).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2656999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5471041"/>
            <a:ext cx="3263027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Model-First </a:t>
            </a:r>
            <a:r>
              <a:rPr lang="en-US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(</a:t>
            </a: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Устаревший</a:t>
            </a:r>
            <a:r>
              <a:rPr lang="en-US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)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962055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Использование визуального конструктора для создания схемы базы данных и моделей C#.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869877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67063"/>
            <a:ext cx="64814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Summary and Next Steps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1943814" y="29412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 Architecture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432215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Separation of concerns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611" y="3180517"/>
            <a:ext cx="369332" cy="4617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3386" y="29412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Implementation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943386" y="3432215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Basic product listing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553" y="3564731"/>
            <a:ext cx="369332" cy="4617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3386" y="538424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9943386" y="5875258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URL to controller mapping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338" y="5766673"/>
            <a:ext cx="369332" cy="4617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943814" y="518672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Next Steps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864037" y="5677733"/>
            <a:ext cx="382297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Entity Framework, CRUD operations</a:t>
            </a:r>
            <a:endParaRPr lang="en-US" sz="19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396" y="5382458"/>
            <a:ext cx="369332" cy="4617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67063"/>
            <a:ext cx="64814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ru-RU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Итог и следующие шаги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1943814" y="29412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Архитектура </a:t>
            </a:r>
            <a:r>
              <a:rPr lang="en-US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432215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Разделение ответственности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611" y="3180517"/>
            <a:ext cx="369332" cy="4617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3386" y="294120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E0E4E6"/>
                </a:solidFill>
                <a:ea typeface="Spline Sans Bold" pitchFamily="34" charset="-122"/>
              </a:rPr>
              <a:t>Реализация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943386" y="3432215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Базовый список товаров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553" y="3564731"/>
            <a:ext cx="369332" cy="4617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3386" y="538424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Маршрутизация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9943386" y="5875258"/>
            <a:ext cx="382297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Связывание </a:t>
            </a: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URL </a:t>
            </a: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 контроллером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338" y="5766673"/>
            <a:ext cx="369332" cy="4617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943814" y="518672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ru-RU" sz="2150" b="1" dirty="0" smtClean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Следующие шаги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864037" y="5677733"/>
            <a:ext cx="382297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Entity Framework, </a:t>
            </a: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операции </a:t>
            </a:r>
            <a:r>
              <a:rPr lang="en-US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CRUD</a:t>
            </a:r>
            <a:endParaRPr lang="en-US" sz="19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7299" y="2446615"/>
            <a:ext cx="4515803" cy="4515803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396" y="5382458"/>
            <a:ext cx="369332" cy="46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890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72120"/>
            <a:ext cx="610207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Questions and Answers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1951673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4765715"/>
            <a:ext cx="405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does MVC simplify web app development?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599628"/>
            <a:ext cx="405384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MVC promotes separation of concerns, leading to more maintainable code.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1951673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4765715"/>
            <a:ext cx="4053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are the key components of MVC?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599628"/>
            <a:ext cx="4053959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Models, Views, and Controllers each handle specific aspects of the application.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1951673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4765715"/>
            <a:ext cx="405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does routing work in ASP.NET Core?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599628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Routing maps URL requests to specific controller actions.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64037" y="706243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Feel free to ask any additional questions!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72120"/>
            <a:ext cx="610207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ru-RU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Вопросы и ответы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1951673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4765715"/>
            <a:ext cx="405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Как MVC упрощает разработку веб-приложений?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599628"/>
            <a:ext cx="405384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MVC способствует разделению ответственности, что делает код более поддерживаемым.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1951673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4765715"/>
            <a:ext cx="4053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Какие ключевые компоненты </a:t>
            </a: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MVC?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599628"/>
            <a:ext cx="4053959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Модели, представления и контроллеры, каждый из которых отвечает за определённые аспекты приложения.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1951673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4765715"/>
            <a:ext cx="405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</a:pP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Как работает маршрутизация в ASP.NET </a:t>
            </a:r>
            <a:r>
              <a:rPr lang="ru-RU" sz="2150" b="1" dirty="0" err="1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</a:t>
            </a:r>
            <a:r>
              <a:rPr lang="ru-RU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?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599628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Маршрутизация сопоставляет URL-запросы с конкретными действиями контроллера.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64037" y="706243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ru-RU" sz="1900" dirty="0" smtClean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Готов ответить на ваши вопросы!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044731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4357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Thank You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123122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49371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Appreciation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428178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value your attention and engagement.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2123122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49371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Teamwork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428178"/>
            <a:ext cx="405395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Grateful for the opportunity to collaborate and share our insights.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2123122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49371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Gratitude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428178"/>
            <a:ext cx="405384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Thank you for the time and support.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64037" y="6495931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extend our sincere gratitude for your time, attention, and support throughout this presentation. We hope that the information shared was valuable and insightful.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4357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ru-RU" sz="4300" b="1" dirty="0" smtClean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Спасибо!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586394"/>
            <a:ext cx="4053840" cy="2505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037" y="5428178"/>
            <a:ext cx="405384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Ваше участие сделало эту лекцию по-настоящему насыщенной.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161" y="2586394"/>
            <a:ext cx="4053959" cy="25054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88161" y="5428178"/>
            <a:ext cx="4053959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Ваша любознательность помогла прояснить ключевые концепции.</a:t>
            </a: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2404" y="2586394"/>
            <a:ext cx="4053840" cy="25054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2404" y="5428178"/>
            <a:ext cx="405384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00"/>
              </a:lnSpc>
            </a:pPr>
            <a:r>
              <a:rPr lang="ru-RU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Спасибо за ваше внимание!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33411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782</Words>
  <Application>Microsoft Office PowerPoint</Application>
  <PresentationFormat>Произвольный</PresentationFormat>
  <Paragraphs>200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Barlow</vt:lpstr>
      <vt:lpstr>Calibri</vt:lpstr>
      <vt:lpstr>Consolas</vt:lpstr>
      <vt:lpstr>Spline Sans Bold</vt:lpstr>
      <vt:lpstr>Arial</vt:lpstr>
      <vt:lpstr>Barlow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Старцев Александр</cp:lastModifiedBy>
  <cp:revision>22</cp:revision>
  <dcterms:created xsi:type="dcterms:W3CDTF">2025-04-02T15:20:31Z</dcterms:created>
  <dcterms:modified xsi:type="dcterms:W3CDTF">2025-04-03T09:53:09Z</dcterms:modified>
</cp:coreProperties>
</file>